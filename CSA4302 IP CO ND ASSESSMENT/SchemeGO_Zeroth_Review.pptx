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B4204FC-FC97-ED16-4265-C4BC51DB3131}">
          <p14:sldIdLst>
            <p14:sldId id="256"/>
          </p14:sldIdLst>
        </p14:section>
        <p14:section name="Context" id="{61967796-8BB0-5FFE-CD0C-1C2F3E4434DF}">
          <p14:sldIdLst>
            <p14:sldId id="257"/>
            <p14:sldId id="258"/>
            <p14:sldId id="259"/>
          </p14:sldIdLst>
        </p14:section>
        <p14:section name="Solution" id="{CE6B1C08-DF07-55AF-18C6-683AB0A4D6E6}">
          <p14:sldIdLst>
            <p14:sldId id="260"/>
            <p14:sldId id="261"/>
            <p14:sldId id="262"/>
          </p14:sldIdLst>
        </p14:section>
        <p14:section name="Plan" id="{6C7B924E-416E-DACF-DA13-1362B240090F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0755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9897" y="89480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E0A81E"/>
                </a:solidFill>
              </a:rPr>
              <a:t>CSA-4302 INTERNETPROGRAMMING </a:t>
            </a:r>
          </a:p>
          <a:p>
            <a:pPr marL="0" indent="0" algn="ctr">
              <a:buNone/>
            </a:pPr>
            <a:r>
              <a:rPr lang="en-US" sz="1400" b="1" kern="0" spc="300" dirty="0">
                <a:solidFill>
                  <a:srgbClr val="E0A81E"/>
                </a:solidFill>
              </a:rPr>
              <a:t>CAPSTONE PROJECT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1436915"/>
            <a:ext cx="539496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Scheme </a:t>
            </a:r>
            <a:r>
              <a:rPr lang="en-US" sz="6000" b="1" dirty="0">
                <a:solidFill>
                  <a:srgbClr val="E0A8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74768" y="2397035"/>
            <a:ext cx="5394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Platform for Government Scheme Eligibility and Application Assistance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375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5394960" cy="9601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85800" y="37490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A81E"/>
                </a:solidFill>
              </a:rPr>
              <a:t>Team Members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Avinaash A  (192324260)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Sanjay G  (192311437)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Sanjai S  (192511018)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37490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A81E"/>
                </a:solidFill>
              </a:rPr>
              <a:t>Guided by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Dr. T. Kosalairaman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50976"/>
            <a:ext cx="822960" cy="45720"/>
          </a:xfrm>
          <a:prstGeom prst="rect">
            <a:avLst/>
          </a:prstGeom>
          <a:solidFill>
            <a:srgbClr val="E0A81E"/>
          </a:solidFill>
          <a:ln w="12700">
            <a:solidFill>
              <a:srgbClr val="E0A8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0" y="2468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C5AA0"/>
                </a:solidFill>
              </a:rPr>
              <a:t>Many eligible Tamil Nadu citizens never receive the welfare benefits meant for them.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6060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DD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85800" y="2103120"/>
            <a:ext cx="640080" cy="640080"/>
          </a:xfrm>
          <a:prstGeom prst="ellipse">
            <a:avLst/>
          </a:prstGeom>
          <a:solidFill>
            <a:srgbClr val="E0A81E"/>
          </a:solidFill>
          <a:ln w="12700">
            <a:solidFill>
              <a:srgbClr val="E0A8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226314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85800" y="2880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Scattered information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5661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F3B58"/>
                </a:solidFill>
              </a:rPr>
              <a:t>Hundreds of Tamil Nadu government schemes are spread across many departments and websites.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246120" y="1920240"/>
            <a:ext cx="26060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DD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3474720" y="2103120"/>
            <a:ext cx="640080" cy="640080"/>
          </a:xfrm>
          <a:prstGeom prst="ellipse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4740" y="226314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474720" y="2880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Unclear eligibility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3474720" y="35661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F3B58"/>
                </a:solidFill>
              </a:rPr>
              <a:t>Citizens cannot easily tell which schemes they qualify for; criteria are complex and technical.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035040" y="1920240"/>
            <a:ext cx="26060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DD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6263640" y="2103120"/>
            <a:ext cx="640080" cy="640080"/>
          </a:xfrm>
          <a:prstGeom prst="ellipse">
            <a:avLst/>
          </a:prstGeom>
          <a:solidFill>
            <a:srgbClr val="1D7A5F"/>
          </a:solidFill>
          <a:ln w="12700">
            <a:solidFill>
              <a:srgbClr val="1D7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60" y="226314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63640" y="2880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Confusing procedures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263640" y="35661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F3B58"/>
                </a:solidFill>
              </a:rPr>
              <a:t>Required documents and application steps differ for every scheme and are hard to follow.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50976"/>
            <a:ext cx="822960" cy="45720"/>
          </a:xfrm>
          <a:prstGeom prst="rect">
            <a:avLst/>
          </a:prstGeom>
          <a:solidFill>
            <a:srgbClr val="E0A81E"/>
          </a:solidFill>
          <a:ln w="12700">
            <a:solidFill>
              <a:srgbClr val="E0A8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0" y="2468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5DD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82296" cy="1600200"/>
          </a:xfrm>
          <a:prstGeom prst="rect">
            <a:avLst/>
          </a:prstGeom>
          <a:solidFill>
            <a:srgbClr val="E0A81E"/>
          </a:solidFill>
          <a:ln w="12700">
            <a:solidFill>
              <a:srgbClr val="E0A8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0A8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3716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06B"/>
                </a:solidFill>
              </a:rPr>
              <a:t>To build a centralized web platform that brings all Tamil Nadu government schemes into one place.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5DD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82296" cy="1600200"/>
          </a:xfrm>
          <a:prstGeom prst="rect">
            <a:avLst/>
          </a:prstGeom>
          <a:solidFill>
            <a:srgbClr val="1D7A5F"/>
          </a:solidFill>
          <a:ln w="12700">
            <a:solidFill>
              <a:srgbClr val="1D7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9377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13716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06B"/>
                </a:solidFill>
              </a:rPr>
              <a:t>To develop an eligibility engine that matches each citizen's profile with the schemes they qualify for.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5DD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" cy="160020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73152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5A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15468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06B"/>
                </a:solidFill>
              </a:rPr>
              <a:t>To guide users step by step through required documents and application procedures in simple Tamil and English.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5DD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82296" cy="1600200"/>
          </a:xfrm>
          <a:prstGeom prst="rect">
            <a:avLst/>
          </a:prstGeom>
          <a:solidFill>
            <a:srgbClr val="E0A81E"/>
          </a:solidFill>
          <a:ln w="12700">
            <a:solidFill>
              <a:srgbClr val="E0A8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93776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0A8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315468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06B"/>
                </a:solidFill>
              </a:rPr>
              <a:t>To provide application tracking and timely alerts that make the benefit process transparent.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 / Need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50976"/>
            <a:ext cx="822960" cy="45720"/>
          </a:xfrm>
          <a:prstGeom prst="rect">
            <a:avLst/>
          </a:prstGeom>
          <a:solidFill>
            <a:srgbClr val="E0A81E"/>
          </a:solidFill>
          <a:ln w="12700">
            <a:solidFill>
              <a:srgbClr val="E0A8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0" y="2468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5DD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685800" cy="685800"/>
          </a:xfrm>
          <a:prstGeom prst="ellipse">
            <a:avLst/>
          </a:prstGeom>
          <a:solidFill>
            <a:srgbClr val="E0A81E"/>
          </a:solidFill>
          <a:ln w="12700">
            <a:solidFill>
              <a:srgbClr val="E0A8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543050"/>
            <a:ext cx="342900" cy="3429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5448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Inclusion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17830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F3B58"/>
                </a:solidFill>
              </a:rPr>
              <a:t>Welfare reaches people only when they know about it. Better awareness means better inclusion.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5DD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892040" y="1371600"/>
            <a:ext cx="685800" cy="685800"/>
          </a:xfrm>
          <a:prstGeom prst="ellipse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3490" y="1543050"/>
            <a:ext cx="342900" cy="3429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76072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&amp; effort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5760720" y="17830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F3B58"/>
                </a:solidFill>
              </a:rPr>
              <a:t>Citizens lose days visiting offices and agents just to learn basic eligibility.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5DD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685800" y="3154680"/>
            <a:ext cx="685800" cy="685800"/>
          </a:xfrm>
          <a:prstGeom prst="ellipse">
            <a:avLst/>
          </a:prstGeom>
          <a:solidFill>
            <a:srgbClr val="1D7A5F"/>
          </a:solidFill>
          <a:ln w="12700">
            <a:solidFill>
              <a:srgbClr val="1D7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326130"/>
            <a:ext cx="342900" cy="3429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55448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&amp; transparency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1554480" y="356616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F3B58"/>
                </a:solidFill>
              </a:rPr>
              <a:t>Clear steps and status tracking reduce dependence on middlemen and misinformation.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5DD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4892040" y="3154680"/>
            <a:ext cx="685800" cy="685800"/>
          </a:xfrm>
          <a:prstGeom prst="ellipse">
            <a:avLst/>
          </a:prstGeom>
          <a:solidFill>
            <a:srgbClr val="12306B"/>
          </a:solidFill>
          <a:ln w="12700">
            <a:solidFill>
              <a:srgbClr val="123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3490" y="3326130"/>
            <a:ext cx="342900" cy="3429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76072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Tamil Nadu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5760720" y="356616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F3B58"/>
                </a:solidFill>
              </a:rPr>
              <a:t>TN e-Sevai and rising smartphone use make a single guided portal practical today.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Survey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50976"/>
            <a:ext cx="822960" cy="45720"/>
          </a:xfrm>
          <a:prstGeom prst="rect">
            <a:avLst/>
          </a:prstGeom>
          <a:solidFill>
            <a:srgbClr val="E0A81E"/>
          </a:solidFill>
          <a:ln w="12700">
            <a:solidFill>
              <a:srgbClr val="E0A8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0" y="2468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</a:rPr>
              <a:t>5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1089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Existing system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offers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is missing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06B"/>
                          </a:solidFill>
                        </a:rPr>
                        <a:t>myScheme (MeitY / NeGD)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F3B58"/>
                          </a:solidFill>
                        </a:rPr>
                        <a:t>National scheme search with eligibility filters.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A3B00"/>
                          </a:solidFill>
                        </a:rPr>
                        <a:t>No guided, end-to-end application; redirects to separate portals.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06B"/>
                          </a:solidFill>
                        </a:rPr>
                        <a:t>UMANG App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F3B58"/>
                          </a:solidFill>
                        </a:rPr>
                        <a:t>Single app for many government services.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A3B00"/>
                          </a:solidFill>
                        </a:rPr>
                        <a:t>Not eligibility-focused; discovery of schemes is limited.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06B"/>
                          </a:solidFill>
                        </a:rPr>
                        <a:t>Jan Samarth Portal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F3B58"/>
                          </a:solidFill>
                        </a:rPr>
                        <a:t>Eligibility check and apply for credit-linked schemes.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A3B00"/>
                          </a:solidFill>
                        </a:rPr>
                        <a:t>Covers only credit-linked schemes, not general welfare.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06B"/>
                          </a:solidFill>
                        </a:rPr>
                        <a:t>State portals (e.g. TN e-Sevai)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F3B58"/>
                          </a:solidFill>
                        </a:rPr>
                        <a:t>Department-wise certificates and services.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A3B00"/>
                          </a:solidFill>
                        </a:rPr>
                        <a:t>Siloed by department; no unified recommendations.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7A5F"/>
                </a:solidFill>
              </a:rPr>
              <a:t>Gap: no single platform gives TN citizens eligibility, document guidance, application help and tracking.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50976"/>
            <a:ext cx="822960" cy="45720"/>
          </a:xfrm>
          <a:prstGeom prst="rect">
            <a:avLst/>
          </a:prstGeom>
          <a:solidFill>
            <a:srgbClr val="E0A81E"/>
          </a:solidFill>
          <a:ln w="12700">
            <a:solidFill>
              <a:srgbClr val="E0A8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0" y="2468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</a:rPr>
              <a:t>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306B"/>
                </a:solidFill>
              </a:rPr>
              <a:t>Scheme GO is a one-stop web platform: the citizen enters a simple profile and the system does the rest.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828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D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05840" y="2103120"/>
            <a:ext cx="731520" cy="731520"/>
          </a:xfrm>
          <a:prstGeom prst="ellipse">
            <a:avLst/>
          </a:prstGeom>
          <a:solidFill>
            <a:srgbClr val="E0A81E"/>
          </a:solidFill>
          <a:ln w="12700">
            <a:solidFill>
              <a:srgbClr val="E0A8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28600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profile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33832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F3B58"/>
                </a:solidFill>
              </a:rPr>
              <a:t>Age, income, state, category, occupation</a:t>
            </a:r>
            <a:endParaRPr lang="en-US" sz="11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3432" y="2743200"/>
            <a:ext cx="201168" cy="2011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560320" y="1920240"/>
            <a:ext cx="1828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D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3108960" y="2103120"/>
            <a:ext cx="731520" cy="731520"/>
          </a:xfrm>
          <a:prstGeom prst="ellipse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22860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65176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eligibility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2697480" y="33832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F3B58"/>
                </a:solidFill>
              </a:rPr>
              <a:t>Rule engine matches schemes</a:t>
            </a:r>
            <a:endParaRPr lang="en-US" sz="11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552" y="2743200"/>
            <a:ext cx="201168" cy="2011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663440" y="1920240"/>
            <a:ext cx="1828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D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5212080" y="2103120"/>
            <a:ext cx="731520" cy="731520"/>
          </a:xfrm>
          <a:prstGeom prst="ellipse">
            <a:avLst/>
          </a:prstGeom>
          <a:solidFill>
            <a:srgbClr val="1D7A5F"/>
          </a:solidFill>
          <a:ln w="12700">
            <a:solidFill>
              <a:srgbClr val="1D7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0" y="228600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75488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guidance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4800600" y="33832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F3B58"/>
                </a:solidFill>
              </a:rPr>
              <a:t>Document checklist and steps</a:t>
            </a:r>
            <a:endParaRPr lang="en-US" sz="115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2743200"/>
            <a:ext cx="201168" cy="201168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766560" y="1920240"/>
            <a:ext cx="1828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D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19"/>
          <p:cNvSpPr/>
          <p:nvPr/>
        </p:nvSpPr>
        <p:spPr>
          <a:xfrm>
            <a:off x="7315200" y="2103120"/>
            <a:ext cx="731520" cy="731520"/>
          </a:xfrm>
          <a:prstGeom prst="ellipse">
            <a:avLst/>
          </a:prstGeom>
          <a:solidFill>
            <a:srgbClr val="12306B"/>
          </a:solidFill>
          <a:ln w="12700">
            <a:solidFill>
              <a:srgbClr val="123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0" y="2286000"/>
            <a:ext cx="365760" cy="36576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85800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&amp; track</a:t>
            </a:r>
            <a:endParaRPr lang="en-US" sz="1400" dirty="0"/>
          </a:p>
        </p:txBody>
      </p:sp>
      <p:sp>
        <p:nvSpPr>
          <p:cNvPr id="30" name="Text 21"/>
          <p:cNvSpPr txBox="1"/>
          <p:nvPr/>
        </p:nvSpPr>
        <p:spPr>
          <a:xfrm>
            <a:off x="6903720" y="33832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F3B58"/>
                </a:solidFill>
              </a:rPr>
              <a:t>Status updates and alerts</a:t>
            </a:r>
            <a:endParaRPr lang="en-US" sz="1150" dirty="0"/>
          </a:p>
        </p:txBody>
      </p:sp>
      <p:sp>
        <p:nvSpPr>
          <p:cNvPr id="31" name="Text 22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457200" y="43159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06B"/>
                </a:solidFill>
              </a:rPr>
              <a:t>Example TN schemes: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1783080" y="431596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2306B"/>
          </a:solidFill>
          <a:ln w="15875">
            <a:solidFill>
              <a:srgbClr val="E0A8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5"/>
          <p:cNvSpPr txBox="1"/>
          <p:nvPr/>
        </p:nvSpPr>
        <p:spPr>
          <a:xfrm>
            <a:off x="1783080" y="431596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Magalir Urimai Thogai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3657600" y="431596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2306B"/>
          </a:solidFill>
          <a:ln w="15875">
            <a:solidFill>
              <a:srgbClr val="E0A8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27"/>
          <p:cNvSpPr txBox="1"/>
          <p:nvPr/>
        </p:nvSpPr>
        <p:spPr>
          <a:xfrm>
            <a:off x="3657600" y="431596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Pudhumai Penn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5074920" y="431596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2306B"/>
          </a:solidFill>
          <a:ln w="15875">
            <a:solidFill>
              <a:srgbClr val="E0A8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29"/>
          <p:cNvSpPr txBox="1"/>
          <p:nvPr/>
        </p:nvSpPr>
        <p:spPr>
          <a:xfrm>
            <a:off x="5074920" y="43159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Naan Mudhalvan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6537960" y="431596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2306B"/>
          </a:solidFill>
          <a:ln w="15875">
            <a:solidFill>
              <a:srgbClr val="E0A8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1"/>
          <p:cNvSpPr txBox="1"/>
          <p:nvPr/>
        </p:nvSpPr>
        <p:spPr>
          <a:xfrm>
            <a:off x="6537960" y="431596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CMCHIS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50976"/>
            <a:ext cx="822960" cy="45720"/>
          </a:xfrm>
          <a:prstGeom prst="rect">
            <a:avLst/>
          </a:prstGeom>
          <a:solidFill>
            <a:srgbClr val="E0A81E"/>
          </a:solidFill>
          <a:ln w="12700">
            <a:solidFill>
              <a:srgbClr val="E0A8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0" y="2468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365760" y="1371600"/>
            <a:ext cx="1554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Citizen</a:t>
            </a:r>
            <a:endParaRPr lang="en-US" sz="12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search, apply, track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5B6B8C"/>
          </a:solidFill>
          <a:ln w="12700">
            <a:solidFill>
              <a:srgbClr val="5B6B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65760" y="3017520"/>
            <a:ext cx="1554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Admin</a:t>
            </a:r>
            <a:endParaRPr lang="en-US" sz="12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manage schemes &amp; rules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286000" y="1371600"/>
            <a:ext cx="1554480" cy="2423160"/>
          </a:xfrm>
          <a:prstGeom prst="roundRect">
            <a:avLst>
              <a:gd name="adj" fmla="val 4706"/>
            </a:avLst>
          </a:prstGeom>
          <a:solidFill>
            <a:srgbClr val="12306B"/>
          </a:solidFill>
          <a:ln w="12700">
            <a:solidFill>
              <a:srgbClr val="123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2286000" y="1371600"/>
            <a:ext cx="155448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Web Application</a:t>
            </a:r>
            <a:endParaRPr lang="en-US" sz="12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React.js</a:t>
            </a:r>
            <a:endParaRPr lang="en-US" sz="12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multilingual UI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06240" y="1371600"/>
            <a:ext cx="1645920" cy="2423160"/>
          </a:xfrm>
          <a:prstGeom prst="roundRect">
            <a:avLst>
              <a:gd name="adj" fmla="val 4444"/>
            </a:avLst>
          </a:prstGeom>
          <a:solidFill>
            <a:srgbClr val="0A1D4A"/>
          </a:solidFill>
          <a:ln w="12700">
            <a:solidFill>
              <a:srgbClr val="0A1D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4206240" y="1371600"/>
            <a:ext cx="164592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REST API Server</a:t>
            </a:r>
            <a:endParaRPr lang="en-US" sz="12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Node.js + Express</a:t>
            </a:r>
            <a:endParaRPr lang="en-US" sz="12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authentication (JWT)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1D7A5F"/>
          </a:solidFill>
          <a:ln w="12700">
            <a:solidFill>
              <a:srgbClr val="1D7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21792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Eligibility Engine</a:t>
            </a:r>
            <a:endParaRPr lang="en-US" sz="12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rule-based matching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214884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1D7A5F"/>
          </a:solidFill>
          <a:ln w="12700">
            <a:solidFill>
              <a:srgbClr val="1D7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217920" y="2148840"/>
            <a:ext cx="25603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Application Guide</a:t>
            </a:r>
            <a:endParaRPr lang="en-US" sz="12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documents &amp; steps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292608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1D7A5F"/>
          </a:solidFill>
          <a:ln w="12700">
            <a:solidFill>
              <a:srgbClr val="1D7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217920" y="2926080"/>
            <a:ext cx="25603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Notifications &amp; Tracker</a:t>
            </a:r>
            <a:endParaRPr lang="en-US" sz="12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status and alerts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06240" y="397764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E0A81E"/>
          </a:solidFill>
          <a:ln w="12700">
            <a:solidFill>
              <a:srgbClr val="E0A8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4206240" y="3977640"/>
            <a:ext cx="45720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D4A"/>
                </a:solidFill>
              </a:rPr>
              <a:t>Database: users, schemes, rules, applications</a:t>
            </a:r>
            <a:endParaRPr lang="en-US" sz="12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A1D4A"/>
                </a:solidFill>
              </a:rPr>
              <a:t>MongoDB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920240" y="1755648"/>
            <a:ext cx="36576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920240" y="3401568"/>
            <a:ext cx="36576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840480" y="2560320"/>
            <a:ext cx="36576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852160" y="1691640"/>
            <a:ext cx="36576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852160" y="2468880"/>
            <a:ext cx="36576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852160" y="3246120"/>
            <a:ext cx="365760" cy="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029200" y="3794760"/>
            <a:ext cx="0" cy="182880"/>
          </a:xfrm>
          <a:prstGeom prst="line">
            <a:avLst/>
          </a:prstGeom>
          <a:noFill/>
          <a:ln w="31750">
            <a:solidFill>
              <a:srgbClr val="E07B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and Technologies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50976"/>
            <a:ext cx="822960" cy="45720"/>
          </a:xfrm>
          <a:prstGeom prst="rect">
            <a:avLst/>
          </a:prstGeom>
          <a:solidFill>
            <a:srgbClr val="E0A81E"/>
          </a:solidFill>
          <a:ln w="12700">
            <a:solidFill>
              <a:srgbClr val="E0A8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0" y="2468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5DD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606040" cy="73152"/>
          </a:xfrm>
          <a:prstGeom prst="rect">
            <a:avLst/>
          </a:prstGeom>
          <a:solidFill>
            <a:srgbClr val="E0A81E"/>
          </a:solidFill>
          <a:ln w="12700">
            <a:solidFill>
              <a:srgbClr val="E0A8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85800" y="1463040"/>
            <a:ext cx="594360" cy="594360"/>
          </a:xfrm>
          <a:prstGeom prst="ellipse">
            <a:avLst/>
          </a:prstGeom>
          <a:solidFill>
            <a:srgbClr val="E0A81E"/>
          </a:solidFill>
          <a:ln w="12700">
            <a:solidFill>
              <a:srgbClr val="E0A8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" y="1611630"/>
            <a:ext cx="297180" cy="2971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17320" y="1463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28600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F3B58"/>
                </a:solidFill>
              </a:rPr>
              <a:t>Laptop / PC (i5, 8 GB RAM)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F3B58"/>
                </a:solidFill>
              </a:rPr>
              <a:t>Smartphone for responsive testing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F3B58"/>
                </a:solidFill>
              </a:rPr>
              <a:t>Internet connection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F3B58"/>
                </a:solidFill>
              </a:rPr>
              <a:t>Cloud server for hosting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246120" y="118872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5DD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3246120" y="1188720"/>
            <a:ext cx="2606040" cy="73152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474720" y="1463040"/>
            <a:ext cx="594360" cy="594360"/>
          </a:xfrm>
          <a:prstGeom prst="ellipse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3310" y="1611630"/>
            <a:ext cx="297180" cy="2971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206240" y="1463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3474720" y="228600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F3B58"/>
                </a:solidFill>
              </a:rPr>
              <a:t>VS Code, Git and GitHub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F3B58"/>
                </a:solidFill>
              </a:rPr>
              <a:t>Postman for API testing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F3B58"/>
                </a:solidFill>
              </a:rPr>
              <a:t>Figma for UI design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F3B58"/>
                </a:solidFill>
              </a:rPr>
              <a:t>MongoDB Compass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035040" y="118872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5DD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6035040" y="1188720"/>
            <a:ext cx="2606040" cy="73152"/>
          </a:xfrm>
          <a:prstGeom prst="rect">
            <a:avLst/>
          </a:prstGeom>
          <a:solidFill>
            <a:srgbClr val="1D7A5F"/>
          </a:solidFill>
          <a:ln w="12700">
            <a:solidFill>
              <a:srgbClr val="1D7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6263640" y="1463040"/>
            <a:ext cx="594360" cy="594360"/>
          </a:xfrm>
          <a:prstGeom prst="ellipse">
            <a:avLst/>
          </a:prstGeom>
          <a:solidFill>
            <a:srgbClr val="1D7A5F"/>
          </a:solidFill>
          <a:ln w="12700">
            <a:solidFill>
              <a:srgbClr val="1D7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2230" y="1611630"/>
            <a:ext cx="297180" cy="29718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995160" y="1463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Languages &amp; Frameworks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6263640" y="228600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F3B58"/>
                </a:solidFill>
              </a:rPr>
              <a:t>JavaScript, HTML, CSS, i18n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F3B58"/>
                </a:solidFill>
              </a:rPr>
              <a:t>React.js (Tamil + English UI)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F3B58"/>
                </a:solidFill>
              </a:rPr>
              <a:t>Node.js and Express (backend)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F3B58"/>
                </a:solidFill>
              </a:rPr>
              <a:t>MongoDB (database)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50976"/>
            <a:ext cx="822960" cy="45720"/>
          </a:xfrm>
          <a:prstGeom prst="rect">
            <a:avLst/>
          </a:prstGeom>
          <a:solidFill>
            <a:srgbClr val="E0A81E"/>
          </a:solidFill>
          <a:ln w="12700">
            <a:solidFill>
              <a:srgbClr val="E0A8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0" y="2468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5840" y="1828800"/>
            <a:ext cx="7132320" cy="0"/>
          </a:xfrm>
          <a:prstGeom prst="line">
            <a:avLst/>
          </a:prstGeom>
          <a:noFill/>
          <a:ln w="38100">
            <a:solidFill>
              <a:srgbClr val="C3C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188720" y="1554480"/>
            <a:ext cx="548640" cy="548640"/>
          </a:xfrm>
          <a:prstGeom prst="ellipse">
            <a:avLst/>
          </a:prstGeom>
          <a:solidFill>
            <a:srgbClr val="1D7A5F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1887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5DD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594360" y="2487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Zeroth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88036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F3B58"/>
                </a:solidFill>
              </a:rPr>
              <a:t>Topic, problem, literature survey, architecture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554480"/>
            <a:ext cx="548640" cy="548640"/>
          </a:xfrm>
          <a:prstGeom prst="ellipse">
            <a:avLst/>
          </a:prstGeom>
          <a:solidFill>
            <a:srgbClr val="2C5AA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32918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560320" y="237744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5DD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2697480" y="2487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A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1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288036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F3B58"/>
                </a:solidFill>
              </a:rPr>
              <a:t>Requirement analysis, scheme data collection, UI wireframes, database design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94960" y="1554480"/>
            <a:ext cx="548640" cy="548640"/>
          </a:xfrm>
          <a:prstGeom prst="ellipse">
            <a:avLst/>
          </a:prstGeom>
          <a:solidFill>
            <a:srgbClr val="E0A81E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53949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237744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5DD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800600" y="2487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5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2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288036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F3B58"/>
                </a:solidFill>
              </a:rPr>
              <a:t>Frontend and backend build, eligibility engine, login and document checklist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0" y="1554480"/>
            <a:ext cx="548640" cy="548640"/>
          </a:xfrm>
          <a:prstGeom prst="ellipse">
            <a:avLst/>
          </a:prstGeom>
          <a:solidFill>
            <a:srgbClr val="12306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74980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66560" y="237744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5DD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903720" y="2487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Review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288036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F3B58"/>
                </a:solidFill>
              </a:rPr>
              <a:t>Notifications, multilingual support, testing, deployment, report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50976"/>
            <a:ext cx="822960" cy="45720"/>
          </a:xfrm>
          <a:prstGeom prst="rect">
            <a:avLst/>
          </a:prstGeom>
          <a:solidFill>
            <a:srgbClr val="E0A81E"/>
          </a:solidFill>
          <a:ln w="12700">
            <a:solidFill>
              <a:srgbClr val="E0A8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0" y="2468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</a:rPr>
              <a:t>10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2F3B58"/>
                </a:solidFill>
              </a:rPr>
              <a:t>[1]  National e-Governance Division, "myScheme: National Platform for Government Schemes," Government of India. https://www.myscheme.gov.in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2F3B58"/>
                </a:solidFill>
              </a:rPr>
              <a:t>[2]  Ministry of Electronics and IT, "UMANG: Unified Mobile Application for New-age Governance." https://web.umang.gov.in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2F3B58"/>
                </a:solidFill>
              </a:rPr>
              <a:t>[3]  Government of India, "Jan Samarth Portal: Credit Linked Government Schemes." https://www.jansamarth.in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2F3B58"/>
                </a:solidFill>
              </a:rPr>
              <a:t>[4]  Government of Tamil Nadu , "Official Portal of Tamil Nadu Government." https://www.tn.gov.in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2F3B58"/>
                </a:solidFill>
              </a:rPr>
              <a:t>[5] Government of Tamil Nadu , "TN e-Sevai Citizen Services Portal." https://tnesevai.tn.gov.in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2F3B58"/>
                </a:solidFill>
              </a:rPr>
              <a:t>[6]  Meta Open Source, "React Documentation." https://react.dev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2F3B58"/>
                </a:solidFill>
              </a:rPr>
              <a:t>[7]  OpenJS Foundation, "Express - Node.js Web Application Framework." https://expressjs.com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heme GO">
  <a:themeElements>
    <a:clrScheme name="Scheme GO">
      <a:dk1>
        <a:srgbClr val="12306B"/>
      </a:dk1>
      <a:lt1>
        <a:srgbClr val="FFFFFF"/>
      </a:lt1>
      <a:dk2>
        <a:srgbClr val="0A1D4A"/>
      </a:dk2>
      <a:lt2>
        <a:srgbClr val="F4F7FC"/>
      </a:lt2>
      <a:accent1>
        <a:srgbClr val="E0A81E"/>
      </a:accent1>
      <a:accent2>
        <a:srgbClr val="1D7A5F"/>
      </a:accent2>
      <a:accent3>
        <a:srgbClr val="2C5AA0"/>
      </a:accent3>
      <a:accent4>
        <a:srgbClr val="E3EAF7"/>
      </a:accent4>
      <a:accent5>
        <a:srgbClr val="5B6B8C"/>
      </a:accent5>
      <a:accent6>
        <a:srgbClr val="A85A00"/>
      </a:accent6>
      <a:hlink>
        <a:srgbClr val="2C5AA0"/>
      </a:hlink>
      <a:folHlink>
        <a:srgbClr val="5B6B8C"/>
      </a:folHlink>
    </a:clrScheme>
    <a:fontScheme name="Scheme GO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795</Words>
  <Application>Microsoft Office PowerPoint</Application>
  <PresentationFormat>On-screen Show (16:9)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Georgia</vt:lpstr>
      <vt:lpstr>Scheme 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Scheme GO - Capstone Zeroth Review</dc:title>
  <dc:subject>PptxGenJS Presentation</dc:subject>
  <dc:creator>PptxGenJS</dc:creator>
  <cp:lastModifiedBy>Avin A</cp:lastModifiedBy>
  <cp:revision>2</cp:revision>
  <dcterms:created xsi:type="dcterms:W3CDTF">2026-10-07T07:29:41Z</dcterms:created>
  <dcterms:modified xsi:type="dcterms:W3CDTF">2026-10-07T07:35:42Z</dcterms:modified>
</cp:coreProperties>
</file>